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Nunito ExtraBold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22" Type="http://schemas.openxmlformats.org/officeDocument/2006/relationships/font" Target="fonts/NunitoExtraBold-boldItalic.fntdata"/><Relationship Id="rId10" Type="http://schemas.openxmlformats.org/officeDocument/2006/relationships/slide" Target="slides/slide5.xml"/><Relationship Id="rId21" Type="http://schemas.openxmlformats.org/officeDocument/2006/relationships/font" Target="fonts/NunitoExtraBold-bold.fntdata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d342d8f8f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d342d8f8f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d342d8f8f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d342d8f8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d342d8f8f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d342d8f8f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d342d8f8f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8d342d8f8f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d483b6cf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8d483b6cf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d4df37ec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8d4df37ec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ublic.tableau.com/views/TableauProject-1_17635862308890/SalesProfitTime?:language=en-US&amp;:sid=&amp;:redirect=auth&amp;:display_count=n&amp;:origin=viz_share_link" TargetMode="External"/><Relationship Id="rId4" Type="http://schemas.openxmlformats.org/officeDocument/2006/relationships/hyperlink" Target="https://public.tableau.com/views/TableauProject-1_17635862308890/ProportionalProfitSub-catefory?:language=en-US&amp;:sid=&amp;:redirect=auth&amp;:display_count=n&amp;:origin=viz_share_link" TargetMode="External"/><Relationship Id="rId5" Type="http://schemas.openxmlformats.org/officeDocument/2006/relationships/image" Target="../media/image2.png"/><Relationship Id="rId6" Type="http://schemas.openxmlformats.org/officeDocument/2006/relationships/hyperlink" Target="https://public.tableau.com/views/TableauProject-1_17635862308890/DeliveryTermsAnalysis?:language=en-US&amp;:sid=&amp;:redirect=auth&amp;:display_count=n&amp;:origin=viz_share_link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public.tableau.com/views/TableauProject-2_17638977535260/ProductOnboardingFunnel?:language=en-US&amp;:sid=&amp;:redirect=auth&amp;:display_count=n&amp;:origin=viz_share_link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461625" y="2169450"/>
            <a:ext cx="6520200" cy="973800"/>
          </a:xfrm>
          <a:prstGeom prst="rect">
            <a:avLst/>
          </a:prstGeom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70">
                <a:solidFill>
                  <a:schemeClr val="accent5"/>
                </a:solidFill>
              </a:rPr>
              <a:t>Підсумковий проект блоку Tableau</a:t>
            </a:r>
            <a:endParaRPr sz="3070">
              <a:solidFill>
                <a:schemeClr val="accent5"/>
              </a:solidFill>
            </a:endParaRPr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788775" y="808050"/>
            <a:ext cx="5794500" cy="8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n" sz="135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Виконала:</a:t>
            </a:r>
            <a:r>
              <a:rPr lang="en" sz="135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 Верещагіна-Янко Тетяна </a:t>
            </a:r>
            <a:endParaRPr sz="135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35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студентка курсу Data Analyst</a:t>
            </a:r>
            <a:endParaRPr sz="135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35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група DA30</a:t>
            </a:r>
            <a:endParaRPr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idx="1" type="body"/>
          </p:nvPr>
        </p:nvSpPr>
        <p:spPr>
          <a:xfrm>
            <a:off x="880050" y="2860150"/>
            <a:ext cx="7383900" cy="13686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1950">
                <a:solidFill>
                  <a:schemeClr val="lt1"/>
                </a:solidFill>
                <a:highlight>
                  <a:schemeClr val="dk1"/>
                </a:highlight>
                <a:latin typeface="Nunito ExtraBold"/>
                <a:ea typeface="Nunito ExtraBold"/>
                <a:cs typeface="Nunito ExtraBold"/>
                <a:sym typeface="Nunito ExtraBold"/>
              </a:rPr>
              <a:t>Опис даних та платформи:</a:t>
            </a:r>
            <a:endParaRPr b="1" sz="1410">
              <a:solidFill>
                <a:srgbClr val="2F2F37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410">
                <a:solidFill>
                  <a:schemeClr val="accent1"/>
                </a:solidFill>
                <a:highlight>
                  <a:srgbClr val="FFFFFF"/>
                </a:highlight>
              </a:rPr>
              <a:t>Завдання 1-3.</a:t>
            </a:r>
            <a:r>
              <a:rPr b="1" lang="en" sz="1410">
                <a:solidFill>
                  <a:srgbClr val="2F2F37"/>
                </a:solidFill>
                <a:highlight>
                  <a:srgbClr val="FFFFFF"/>
                </a:highlight>
              </a:rPr>
              <a:t> </a:t>
            </a:r>
            <a:r>
              <a:rPr b="1" lang="en" sz="1400">
                <a:solidFill>
                  <a:srgbClr val="2F2F37"/>
                </a:solidFill>
                <a:highlight>
                  <a:srgbClr val="FFFFFF"/>
                </a:highlight>
              </a:rPr>
              <a:t> Датасет Superstore Sales,</a:t>
            </a:r>
            <a:r>
              <a:rPr lang="en" sz="1400">
                <a:solidFill>
                  <a:srgbClr val="2F2F37"/>
                </a:solidFill>
                <a:highlight>
                  <a:srgbClr val="FFFFFF"/>
                </a:highlight>
              </a:rPr>
              <a:t> інструменти Tableau Public та Excel.</a:t>
            </a:r>
            <a:endParaRPr sz="1400">
              <a:solidFill>
                <a:srgbClr val="2F2F37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410">
                <a:solidFill>
                  <a:schemeClr val="accent1"/>
                </a:solidFill>
              </a:rPr>
              <a:t>Завдання 4.</a:t>
            </a:r>
            <a:r>
              <a:rPr b="1" lang="en" sz="1410">
                <a:solidFill>
                  <a:srgbClr val="2F2F37"/>
                </a:solidFill>
              </a:rPr>
              <a:t> </a:t>
            </a:r>
            <a:r>
              <a:rPr b="1" lang="en" sz="1400">
                <a:solidFill>
                  <a:srgbClr val="2F2F37"/>
                </a:solidFill>
                <a:highlight>
                  <a:srgbClr val="FFFFFF"/>
                </a:highlight>
              </a:rPr>
              <a:t>Датасет</a:t>
            </a:r>
            <a:r>
              <a:rPr lang="en" sz="1400">
                <a:solidFill>
                  <a:srgbClr val="2F2F37"/>
                </a:solidFill>
                <a:highlight>
                  <a:srgbClr val="FFFFFF"/>
                </a:highlight>
              </a:rPr>
              <a:t> з </a:t>
            </a:r>
            <a:r>
              <a:rPr lang="en" sz="1400">
                <a:solidFill>
                  <a:srgbClr val="2F2F37"/>
                </a:solidFill>
              </a:rPr>
              <a:t>даними про проходження користувачами кроків від реєстрації до першої оплати, </a:t>
            </a:r>
            <a:r>
              <a:rPr lang="en" sz="1400">
                <a:solidFill>
                  <a:srgbClr val="2F2F37"/>
                </a:solidFill>
                <a:highlight>
                  <a:srgbClr val="FFFFFF"/>
                </a:highlight>
              </a:rPr>
              <a:t>інструменти </a:t>
            </a:r>
            <a:r>
              <a:rPr b="1" lang="en" sz="1400">
                <a:solidFill>
                  <a:srgbClr val="2F2F37"/>
                </a:solidFill>
                <a:highlight>
                  <a:srgbClr val="FFFFFF"/>
                </a:highlight>
              </a:rPr>
              <a:t>Tableau Public</a:t>
            </a:r>
            <a:r>
              <a:rPr lang="en" sz="1400">
                <a:solidFill>
                  <a:srgbClr val="2F2F37"/>
                </a:solidFill>
                <a:highlight>
                  <a:srgbClr val="FFFFFF"/>
                </a:highlight>
              </a:rPr>
              <a:t>, </a:t>
            </a:r>
            <a:r>
              <a:rPr b="1" lang="en" sz="1400">
                <a:solidFill>
                  <a:srgbClr val="2F2F37"/>
                </a:solidFill>
                <a:highlight>
                  <a:srgbClr val="FFFFFF"/>
                </a:highlight>
              </a:rPr>
              <a:t>Excel</a:t>
            </a:r>
            <a:r>
              <a:rPr lang="en" sz="1400">
                <a:solidFill>
                  <a:srgbClr val="2F2F37"/>
                </a:solidFill>
                <a:highlight>
                  <a:srgbClr val="FFFFFF"/>
                </a:highlight>
              </a:rPr>
              <a:t> для перевірки розрахунків.</a:t>
            </a:r>
            <a:endParaRPr sz="1410">
              <a:solidFill>
                <a:srgbClr val="2F2F3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202"/>
          </a:p>
        </p:txBody>
      </p:sp>
      <p:sp>
        <p:nvSpPr>
          <p:cNvPr id="135" name="Google Shape;135;p14"/>
          <p:cNvSpPr txBox="1"/>
          <p:nvPr>
            <p:ph idx="4294967295" type="ctrTitle"/>
          </p:nvPr>
        </p:nvSpPr>
        <p:spPr>
          <a:xfrm>
            <a:off x="846900" y="675925"/>
            <a:ext cx="7421700" cy="20709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88">
                <a:latin typeface="Nunito ExtraBold"/>
                <a:ea typeface="Nunito ExtraBold"/>
                <a:cs typeface="Nunito ExtraBold"/>
                <a:sym typeface="Nunito ExtraBold"/>
              </a:rPr>
              <a:t>Мета:</a:t>
            </a:r>
            <a:endParaRPr sz="2188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-317182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2F37"/>
              </a:buClr>
              <a:buSzPct val="100000"/>
              <a:buFont typeface="Calibri"/>
              <a:buChar char="●"/>
            </a:pPr>
            <a:r>
              <a:rPr b="1" lang="en" sz="1550">
                <a:solidFill>
                  <a:srgbClr val="2F2F37"/>
                </a:solidFill>
                <a:latin typeface="Calibri"/>
                <a:ea typeface="Calibri"/>
                <a:cs typeface="Calibri"/>
                <a:sym typeface="Calibri"/>
              </a:rPr>
              <a:t>Розрахувати метрики та сегментувати дані в ВІ системах для аналізу  за різними критеріями;</a:t>
            </a:r>
            <a:endParaRPr b="1" sz="1550">
              <a:solidFill>
                <a:srgbClr val="2F2F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182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2F37"/>
              </a:buClr>
              <a:buSzPct val="100000"/>
              <a:buFont typeface="Calibri"/>
              <a:buChar char="●"/>
            </a:pPr>
            <a:r>
              <a:rPr b="1" lang="en" sz="1550">
                <a:solidFill>
                  <a:srgbClr val="2F2F37"/>
                </a:solidFill>
                <a:latin typeface="Calibri"/>
                <a:ea typeface="Calibri"/>
                <a:cs typeface="Calibri"/>
                <a:sym typeface="Calibri"/>
              </a:rPr>
              <a:t>Побудувати часові ряди та оцінити динаміку змін метрик;</a:t>
            </a:r>
            <a:endParaRPr b="1" sz="1550">
              <a:solidFill>
                <a:srgbClr val="2F2F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182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2F37"/>
              </a:buClr>
              <a:buSzPct val="100000"/>
              <a:buFont typeface="Calibri"/>
              <a:buChar char="●"/>
            </a:pPr>
            <a:r>
              <a:rPr b="1" lang="en" sz="1550">
                <a:solidFill>
                  <a:srgbClr val="2F2F37"/>
                </a:solidFill>
                <a:latin typeface="Calibri"/>
                <a:ea typeface="Calibri"/>
                <a:cs typeface="Calibri"/>
                <a:sym typeface="Calibri"/>
              </a:rPr>
              <a:t>Створити інтерактивні дашборди та візуалізації, налаштувати користувацькі фільтри;</a:t>
            </a:r>
            <a:endParaRPr b="1" sz="1550">
              <a:solidFill>
                <a:srgbClr val="2F2F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182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2F37"/>
              </a:buClr>
              <a:buSzPct val="100000"/>
              <a:buFont typeface="Calibri"/>
              <a:buChar char="●"/>
            </a:pPr>
            <a:r>
              <a:rPr b="1" lang="en" sz="1550">
                <a:solidFill>
                  <a:srgbClr val="2F2F37"/>
                </a:solidFill>
                <a:latin typeface="Calibri"/>
                <a:ea typeface="Calibri"/>
                <a:cs typeface="Calibri"/>
                <a:sym typeface="Calibri"/>
              </a:rPr>
              <a:t>Використати Parameters та Actions для керування змістом дашборду;</a:t>
            </a:r>
            <a:endParaRPr b="1" sz="1550">
              <a:solidFill>
                <a:srgbClr val="2F2F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182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2F37"/>
              </a:buClr>
              <a:buSzPct val="100000"/>
              <a:buFont typeface="Calibri"/>
              <a:buChar char="●"/>
            </a:pPr>
            <a:r>
              <a:rPr b="1" lang="en" sz="1550">
                <a:solidFill>
                  <a:srgbClr val="2F2F37"/>
                </a:solidFill>
                <a:latin typeface="Calibri"/>
                <a:ea typeface="Calibri"/>
                <a:cs typeface="Calibri"/>
                <a:sym typeface="Calibri"/>
              </a:rPr>
              <a:t>Зробити висновки та рекомендації для бізнесу базуючись на аналізі даних.</a:t>
            </a:r>
            <a:endParaRPr b="1" sz="155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566463"/>
            <a:ext cx="7505700" cy="4518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920">
                <a:latin typeface="Nunito ExtraBold"/>
                <a:ea typeface="Nunito ExtraBold"/>
                <a:cs typeface="Nunito ExtraBold"/>
                <a:sym typeface="Nunito ExtraBold"/>
              </a:rPr>
              <a:t>Приклади типів завдань:</a:t>
            </a:r>
            <a:endParaRPr sz="1920"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51575" y="1126725"/>
            <a:ext cx="4884300" cy="33120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1114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</a:rPr>
              <a:t>Завдання 1-3:  </a:t>
            </a:r>
            <a:endParaRPr b="1" sz="1400"/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Оглядовий </a:t>
            </a:r>
            <a:r>
              <a:rPr b="1" lang="en" sz="1200"/>
              <a:t>часовий ряд</a:t>
            </a:r>
            <a:r>
              <a:rPr lang="en" sz="1200"/>
              <a:t> продажів та прибутку. Побудувати візуалізацію для аналізу динаміки загальних продажів та прибутку </a:t>
            </a:r>
            <a:r>
              <a:rPr lang="en" sz="1200"/>
              <a:t>помісячно</a:t>
            </a:r>
            <a:r>
              <a:rPr lang="en" sz="1200"/>
              <a:t>.</a:t>
            </a:r>
            <a:endParaRPr sz="1200"/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Дослідження </a:t>
            </a:r>
            <a:r>
              <a:rPr b="1" lang="en" sz="1200"/>
              <a:t>прибутковості</a:t>
            </a:r>
            <a:r>
              <a:rPr lang="en" sz="1200"/>
              <a:t> по субкатегоріям та способам доставки. Побудувати таблицю залежності прибутковості для різних груп товарів  та способу доставки. Вивести підсумки.</a:t>
            </a:r>
            <a:endParaRPr sz="1200"/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Аналіз </a:t>
            </a:r>
            <a:r>
              <a:rPr b="1" lang="en" sz="1200"/>
              <a:t>термінів</a:t>
            </a:r>
            <a:r>
              <a:rPr lang="en" sz="1200"/>
              <a:t> доставки. Створити дашборд з трьома діаграмами:</a:t>
            </a:r>
            <a:endParaRPr sz="1200"/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Середня кількість днів, що йдуть на доставку для кожного типу доставки;</a:t>
            </a:r>
            <a:endParaRPr sz="1200"/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Кількість замовлень в розрізі тривалості доставки;</a:t>
            </a:r>
            <a:endParaRPr sz="1200"/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Середня кількість днів, що йдуть на доставку замовлення в кожному штаті США. </a:t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5"/>
          <p:cNvSpPr txBox="1"/>
          <p:nvPr>
            <p:ph idx="2" type="body"/>
          </p:nvPr>
        </p:nvSpPr>
        <p:spPr>
          <a:xfrm>
            <a:off x="5877300" y="1126725"/>
            <a:ext cx="2447400" cy="33120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</a:rPr>
              <a:t>Завдання 4.  Інтеграція інтерактивних елементів у дашборд “Воронка продажів”</a:t>
            </a:r>
            <a:endParaRPr b="1" sz="1522">
              <a:solidFill>
                <a:schemeClr val="accen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22">
              <a:solidFill>
                <a:srgbClr val="2F2F37"/>
              </a:solidFill>
              <a:highlight>
                <a:schemeClr val="dk1"/>
              </a:highlight>
            </a:endParaRPr>
          </a:p>
          <a:p>
            <a:pPr indent="-247650" lvl="0" marL="2286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Створити графік з середньою кількістю днів від реєстрації до оплати у кожному місяці реєстрації;</a:t>
            </a:r>
            <a:endParaRPr sz="1200"/>
          </a:p>
          <a:p>
            <a:pPr indent="-190500" lvl="0" marL="2286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Додати </a:t>
            </a:r>
            <a:r>
              <a:rPr b="1" lang="en" sz="1200"/>
              <a:t>Parameters</a:t>
            </a:r>
            <a:r>
              <a:rPr lang="en" sz="1200"/>
              <a:t> та </a:t>
            </a:r>
            <a:r>
              <a:rPr b="1" lang="en" sz="1200"/>
              <a:t>Actions</a:t>
            </a:r>
            <a:r>
              <a:rPr lang="en" sz="1200"/>
              <a:t> для створення зв’язку між подіями на графіку “воронка” та графіком із середньою кількістю днів.</a:t>
            </a:r>
            <a:endParaRPr sz="1200"/>
          </a:p>
          <a:p>
            <a:pPr indent="3429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830700" y="394925"/>
            <a:ext cx="7706400" cy="3666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988"/>
              <a:t>Результати</a:t>
            </a:r>
            <a:endParaRPr b="1" sz="1988"/>
          </a:p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830700" y="862400"/>
            <a:ext cx="4203900" cy="38781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25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Завдання 1</a:t>
            </a:r>
            <a:endParaRPr b="1" sz="5225">
              <a:solidFill>
                <a:schemeClr val="accent1"/>
              </a:solidFill>
            </a:endParaRPr>
          </a:p>
          <a:p>
            <a:pPr indent="-247650" lvl="0" marL="228600" rtl="0" algn="just">
              <a:spcBef>
                <a:spcPts val="0"/>
              </a:spcBef>
              <a:spcAft>
                <a:spcPts val="0"/>
              </a:spcAft>
              <a:buClr>
                <a:srgbClr val="2F2F37"/>
              </a:buClr>
              <a:buSzPct val="100000"/>
              <a:buChar char="●"/>
            </a:pPr>
            <a:r>
              <a:rPr lang="en" sz="4800">
                <a:solidFill>
                  <a:srgbClr val="2F2F37"/>
                </a:solidFill>
                <a:highlight>
                  <a:srgbClr val="FFFFFF"/>
                </a:highlight>
              </a:rPr>
              <a:t>найбільші продажі у 11.2023 р. - 118 тис., найменші у 02.2020 р. - 5 тис.;</a:t>
            </a:r>
            <a:endParaRPr sz="4800">
              <a:solidFill>
                <a:srgbClr val="2F2F37"/>
              </a:solidFill>
              <a:highlight>
                <a:srgbClr val="FFFFFF"/>
              </a:highlight>
            </a:endParaRPr>
          </a:p>
          <a:p>
            <a:pPr indent="-247650" lvl="0" marL="228600" rtl="0" algn="just">
              <a:spcBef>
                <a:spcPts val="0"/>
              </a:spcBef>
              <a:spcAft>
                <a:spcPts val="0"/>
              </a:spcAft>
              <a:buClr>
                <a:srgbClr val="2F2F37"/>
              </a:buClr>
              <a:buSzPct val="100000"/>
              <a:buChar char="●"/>
            </a:pPr>
            <a:r>
              <a:rPr lang="en" sz="4800">
                <a:solidFill>
                  <a:srgbClr val="2F2F37"/>
                </a:solidFill>
                <a:highlight>
                  <a:srgbClr val="FFFFFF"/>
                </a:highlight>
              </a:rPr>
              <a:t>найбільший прибуток у 12.2022 р. - майже 18 тис., найменший у 01.2021 р. - збиток у 3 тис.</a:t>
            </a:r>
            <a:endParaRPr sz="4800">
              <a:solidFill>
                <a:srgbClr val="2F2F37"/>
              </a:solidFill>
              <a:highlight>
                <a:srgbClr val="FFFFFF"/>
              </a:highlight>
            </a:endParaRPr>
          </a:p>
          <a:p>
            <a:pPr indent="-247650" lvl="0" marL="228600" rtl="0" algn="just">
              <a:spcBef>
                <a:spcPts val="0"/>
              </a:spcBef>
              <a:spcAft>
                <a:spcPts val="0"/>
              </a:spcAft>
              <a:buClr>
                <a:srgbClr val="2F2F37"/>
              </a:buClr>
              <a:buSzPct val="100000"/>
              <a:buChar char="●"/>
            </a:pPr>
            <a:r>
              <a:rPr lang="en" sz="4800">
                <a:solidFill>
                  <a:srgbClr val="2F2F37"/>
                </a:solidFill>
                <a:highlight>
                  <a:srgbClr val="FFFFFF"/>
                </a:highlight>
              </a:rPr>
              <a:t>Sales має позитивний тренд у часі, однак Profit лишається майже на одному рівні.</a:t>
            </a:r>
            <a:endParaRPr sz="4800">
              <a:solidFill>
                <a:srgbClr val="2F2F37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2F2F37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 u="sng">
                <a:solidFill>
                  <a:schemeClr val="accent1"/>
                </a:solidFill>
                <a:highlight>
                  <a:srgbClr val="FFFFFF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Завдання 2</a:t>
            </a:r>
            <a:endParaRPr b="1" sz="5200">
              <a:solidFill>
                <a:schemeClr val="accent1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923">
                <a:solidFill>
                  <a:srgbClr val="2F2F37"/>
                </a:solidFill>
                <a:highlight>
                  <a:srgbClr val="FFFFFF"/>
                </a:highlight>
              </a:rPr>
              <a:t>Найбільш рентабельна доставка First Class - 13,9%;</a:t>
            </a:r>
            <a:endParaRPr sz="4923">
              <a:solidFill>
                <a:srgbClr val="2F2F37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923">
                <a:solidFill>
                  <a:srgbClr val="2F2F37"/>
                </a:solidFill>
                <a:highlight>
                  <a:srgbClr val="FFFFFF"/>
                </a:highlight>
              </a:rPr>
              <a:t>Найменш рентабельна - Standard Class - 12.2%.</a:t>
            </a:r>
            <a:endParaRPr sz="4923">
              <a:solidFill>
                <a:srgbClr val="2F2F37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923">
                <a:solidFill>
                  <a:srgbClr val="2F2F37"/>
                </a:solidFill>
                <a:highlight>
                  <a:srgbClr val="FFFFFF"/>
                </a:highlight>
              </a:rPr>
              <a:t>Серед категорій найбільш рентабельними є:</a:t>
            </a:r>
            <a:endParaRPr sz="4923">
              <a:solidFill>
                <a:srgbClr val="2F2F37"/>
              </a:solidFill>
              <a:highlight>
                <a:srgbClr val="FFFFFF"/>
              </a:highlight>
            </a:endParaRPr>
          </a:p>
          <a:p>
            <a:pPr indent="-306753" lvl="0" marL="457200" rtl="0" algn="just">
              <a:spcBef>
                <a:spcPts val="0"/>
              </a:spcBef>
              <a:spcAft>
                <a:spcPts val="0"/>
              </a:spcAft>
              <a:buClr>
                <a:srgbClr val="2F2F37"/>
              </a:buClr>
              <a:buSzPct val="100000"/>
              <a:buChar char="●"/>
            </a:pPr>
            <a:r>
              <a:rPr lang="en" sz="4923">
                <a:solidFill>
                  <a:srgbClr val="2F2F37"/>
                </a:solidFill>
                <a:highlight>
                  <a:srgbClr val="FFFFFF"/>
                </a:highlight>
              </a:rPr>
              <a:t>Office Supplies з прибутковістю більше 40% (субкатегорії Labels - 43.9%, Paper - 43.4%, Envelopes 42.3%) ;</a:t>
            </a:r>
            <a:endParaRPr sz="4923">
              <a:solidFill>
                <a:srgbClr val="2F2F37"/>
              </a:solidFill>
              <a:highlight>
                <a:srgbClr val="FFFFFF"/>
              </a:highlight>
            </a:endParaRPr>
          </a:p>
          <a:p>
            <a:pPr indent="-306753" lvl="0" marL="457200" rtl="0" algn="just">
              <a:spcBef>
                <a:spcPts val="0"/>
              </a:spcBef>
              <a:spcAft>
                <a:spcPts val="0"/>
              </a:spcAft>
              <a:buClr>
                <a:srgbClr val="2F2F37"/>
              </a:buClr>
              <a:buSzPct val="100000"/>
              <a:buChar char="●"/>
            </a:pPr>
            <a:r>
              <a:rPr lang="en" sz="4923">
                <a:solidFill>
                  <a:srgbClr val="2F2F37"/>
                </a:solidFill>
                <a:highlight>
                  <a:srgbClr val="FFFFFF"/>
                </a:highlight>
              </a:rPr>
              <a:t>У Technology - це субкатегорія Copiers з прибутковістю 37,2%.</a:t>
            </a:r>
            <a:endParaRPr sz="4923">
              <a:solidFill>
                <a:srgbClr val="2F2F37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923">
                <a:solidFill>
                  <a:srgbClr val="2F2F37"/>
                </a:solidFill>
                <a:highlight>
                  <a:srgbClr val="FFFFFF"/>
                </a:highlight>
              </a:rPr>
              <a:t>Збитки приносять продажі по субкатегоріям і всім видам доставки:</a:t>
            </a:r>
            <a:endParaRPr sz="4923">
              <a:solidFill>
                <a:srgbClr val="2F2F37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923">
                <a:solidFill>
                  <a:srgbClr val="2F2F37"/>
                </a:solidFill>
                <a:highlight>
                  <a:srgbClr val="FFFFFF"/>
                </a:highlight>
              </a:rPr>
              <a:t> Supplies (-2.5%), Bookcases (-3,1%), Tables (-8.5%).</a:t>
            </a:r>
            <a:endParaRPr sz="4923">
              <a:solidFill>
                <a:srgbClr val="2F2F37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rgbClr val="2F2F37"/>
              </a:solidFill>
              <a:highlight>
                <a:srgbClr val="FFFFFF"/>
              </a:highlight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25">
              <a:solidFill>
                <a:srgbClr val="2F2F37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25">
              <a:solidFill>
                <a:srgbClr val="2F2F37"/>
              </a:solidFill>
            </a:endParaRPr>
          </a:p>
          <a:p>
            <a:pPr indent="-22860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25">
              <a:solidFill>
                <a:srgbClr val="000000"/>
              </a:solidFill>
            </a:endParaRPr>
          </a:p>
          <a:p>
            <a:pPr indent="-45720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5">
            <a:alphaModFix/>
          </a:blip>
          <a:srcRect b="4483" l="0" r="13194" t="16157"/>
          <a:stretch/>
        </p:blipFill>
        <p:spPr>
          <a:xfrm>
            <a:off x="5211150" y="3162150"/>
            <a:ext cx="3326100" cy="15783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0" name="Google Shape;150;p16"/>
          <p:cNvSpPr txBox="1"/>
          <p:nvPr>
            <p:ph idx="1" type="body"/>
          </p:nvPr>
        </p:nvSpPr>
        <p:spPr>
          <a:xfrm>
            <a:off x="5211150" y="862400"/>
            <a:ext cx="3326100" cy="22998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 u="sng">
                <a:solidFill>
                  <a:schemeClr val="accent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Завдання 3</a:t>
            </a:r>
            <a:endParaRPr sz="5200">
              <a:solidFill>
                <a:schemeClr val="accent1"/>
              </a:solidFill>
            </a:endParaRPr>
          </a:p>
          <a:p>
            <a:pPr indent="-247650" lvl="0" marL="228600" rtl="0" algn="just">
              <a:spcBef>
                <a:spcPts val="0"/>
              </a:spcBef>
              <a:spcAft>
                <a:spcPts val="0"/>
              </a:spcAft>
              <a:buClr>
                <a:srgbClr val="2F2F37"/>
              </a:buClr>
              <a:buSzPct val="100000"/>
              <a:buChar char="●"/>
            </a:pPr>
            <a:r>
              <a:rPr lang="en" sz="4800">
                <a:solidFill>
                  <a:srgbClr val="2F2F37"/>
                </a:solidFill>
                <a:highlight>
                  <a:srgbClr val="FFFFFF"/>
                </a:highlight>
              </a:rPr>
              <a:t>Найшвидша доставка Same Date - 0 днів, найдовша - Standard Class 5 днів.</a:t>
            </a:r>
            <a:endParaRPr sz="4800">
              <a:solidFill>
                <a:srgbClr val="2F2F37"/>
              </a:solidFill>
              <a:highlight>
                <a:srgbClr val="FFFFFF"/>
              </a:highlight>
            </a:endParaRPr>
          </a:p>
          <a:p>
            <a:pPr indent="-247650" lvl="0" marL="228600" rtl="0" algn="just">
              <a:spcBef>
                <a:spcPts val="0"/>
              </a:spcBef>
              <a:spcAft>
                <a:spcPts val="0"/>
              </a:spcAft>
              <a:buClr>
                <a:srgbClr val="2F2F37"/>
              </a:buClr>
              <a:buSzPct val="100000"/>
              <a:buChar char="●"/>
            </a:pPr>
            <a:r>
              <a:rPr lang="en" sz="4800">
                <a:solidFill>
                  <a:srgbClr val="2F2F37"/>
                </a:solidFill>
                <a:highlight>
                  <a:srgbClr val="FFFFFF"/>
                </a:highlight>
              </a:rPr>
              <a:t>Доставка тривалістю 4 та 5 днів складає 50% всіх замовлень.</a:t>
            </a:r>
            <a:endParaRPr sz="4800">
              <a:solidFill>
                <a:srgbClr val="2F2F37"/>
              </a:solidFill>
              <a:highlight>
                <a:srgbClr val="FFFFFF"/>
              </a:highlight>
            </a:endParaRPr>
          </a:p>
          <a:p>
            <a:pPr indent="-247650" lvl="0" marL="228600" rtl="0" algn="just">
              <a:spcBef>
                <a:spcPts val="0"/>
              </a:spcBef>
              <a:spcAft>
                <a:spcPts val="0"/>
              </a:spcAft>
              <a:buClr>
                <a:srgbClr val="2F2F37"/>
              </a:buClr>
              <a:buSzPct val="100000"/>
              <a:buChar char="●"/>
            </a:pPr>
            <a:r>
              <a:rPr lang="en" sz="4800">
                <a:solidFill>
                  <a:srgbClr val="2F2F37"/>
                </a:solidFill>
                <a:highlight>
                  <a:srgbClr val="FFFFFF"/>
                </a:highlight>
              </a:rPr>
              <a:t>Найдовша доставка 5 днів у штати Мен та Вайомінг. Найшвидша 2 дні до Західної Вірджинії.</a:t>
            </a:r>
            <a:endParaRPr sz="4800">
              <a:solidFill>
                <a:srgbClr val="2F2F37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accent1"/>
                </a:solidFill>
              </a:rPr>
              <a:t>Рекомендації:</a:t>
            </a:r>
            <a:r>
              <a:rPr b="1" lang="en" sz="4800">
                <a:solidFill>
                  <a:schemeClr val="accent1"/>
                </a:solidFill>
                <a:highlight>
                  <a:srgbClr val="FFFFFF"/>
                </a:highlight>
              </a:rPr>
              <a:t> </a:t>
            </a:r>
            <a:r>
              <a:rPr lang="en" sz="4800">
                <a:solidFill>
                  <a:srgbClr val="2F2F37"/>
                </a:solidFill>
                <a:highlight>
                  <a:srgbClr val="FFFFFF"/>
                </a:highlight>
              </a:rPr>
              <a:t> переглянути асортимент та цінову політику на збиткові субкатегорії товарів  Supplies, Bookcases, Tables для підвищення загальної рентабельності. </a:t>
            </a:r>
            <a:endParaRPr sz="4800">
              <a:solidFill>
                <a:srgbClr val="2F2F37"/>
              </a:solidFill>
              <a:highlight>
                <a:srgbClr val="FFFFFF"/>
              </a:highlight>
            </a:endParaRPr>
          </a:p>
          <a:p>
            <a:pPr indent="0" lvl="0" marL="1143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F2F37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834900" y="394925"/>
            <a:ext cx="7915800" cy="3666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888"/>
              <a:t>Результати</a:t>
            </a:r>
            <a:endParaRPr b="1" sz="1888"/>
          </a:p>
        </p:txBody>
      </p:sp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834900" y="925450"/>
            <a:ext cx="4259100" cy="34098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600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Завдання 4</a:t>
            </a:r>
            <a:endParaRPr b="1" sz="5600">
              <a:solidFill>
                <a:schemeClr val="accent1"/>
              </a:solidFill>
            </a:endParaRPr>
          </a:p>
          <a:p>
            <a:pPr indent="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2F2F37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accent1"/>
                </a:solidFill>
              </a:rPr>
              <a:t>             Висновки:</a:t>
            </a:r>
            <a:r>
              <a:rPr lang="en" sz="4800">
                <a:solidFill>
                  <a:schemeClr val="accent1"/>
                </a:solidFill>
                <a:highlight>
                  <a:srgbClr val="FFFFFF"/>
                </a:highlight>
              </a:rPr>
              <a:t> </a:t>
            </a:r>
            <a:endParaRPr sz="4800">
              <a:solidFill>
                <a:schemeClr val="accent1"/>
              </a:solidFill>
              <a:highlight>
                <a:srgbClr val="FFFFFF"/>
              </a:highlight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rgbClr val="2F2F37"/>
              </a:buClr>
              <a:buSzPct val="100000"/>
              <a:buChar char="●"/>
            </a:pPr>
            <a:r>
              <a:rPr lang="en" sz="4800">
                <a:solidFill>
                  <a:srgbClr val="2F2F37"/>
                </a:solidFill>
                <a:highlight>
                  <a:srgbClr val="FFFFFF"/>
                </a:highlight>
              </a:rPr>
              <a:t>найбільші “втрати” користувачів на етапі верифікації пошти - до 26%;</a:t>
            </a:r>
            <a:endParaRPr sz="4800">
              <a:solidFill>
                <a:srgbClr val="2F2F37"/>
              </a:solidFill>
              <a:highlight>
                <a:srgbClr val="FFFFFF"/>
              </a:highlight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rgbClr val="2F2F37"/>
              </a:buClr>
              <a:buSzPct val="100000"/>
              <a:buChar char="●"/>
            </a:pPr>
            <a:r>
              <a:rPr lang="en" sz="4800">
                <a:solidFill>
                  <a:srgbClr val="2F2F37"/>
                </a:solidFill>
                <a:highlight>
                  <a:srgbClr val="FFFFFF"/>
                </a:highlight>
              </a:rPr>
              <a:t>до пробного періоду “доходять” лише 23% користувачів, а до оплати 6,8%;</a:t>
            </a:r>
            <a:endParaRPr sz="4800">
              <a:solidFill>
                <a:srgbClr val="2F2F37"/>
              </a:solidFill>
              <a:highlight>
                <a:srgbClr val="FFFFFF"/>
              </a:highlight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rgbClr val="2F2F37"/>
              </a:buClr>
              <a:buSzPct val="100000"/>
              <a:buChar char="●"/>
            </a:pPr>
            <a:r>
              <a:rPr lang="en" sz="4800">
                <a:solidFill>
                  <a:srgbClr val="2F2F37"/>
                </a:solidFill>
                <a:highlight>
                  <a:srgbClr val="FFFFFF"/>
                </a:highlight>
              </a:rPr>
              <a:t>найкраща конверсія з реєстрації у пробний період була у січні 2023 - 25,6% (3676 користувача), через 4 місяці вона впала до 20%;</a:t>
            </a:r>
            <a:endParaRPr sz="4800">
              <a:solidFill>
                <a:srgbClr val="2F2F37"/>
              </a:solidFill>
              <a:highlight>
                <a:srgbClr val="FFFFFF"/>
              </a:highlight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rgbClr val="2F2F37"/>
              </a:buClr>
              <a:buSzPct val="100000"/>
              <a:buChar char="●"/>
            </a:pPr>
            <a:r>
              <a:rPr lang="en" sz="4800">
                <a:solidFill>
                  <a:srgbClr val="2F2F37"/>
                </a:solidFill>
                <a:highlight>
                  <a:srgbClr val="FFFFFF"/>
                </a:highlight>
              </a:rPr>
              <a:t>від реєстрації до пробного періоду проходить в середньому 5 днів, а до оплати - 60 днів;</a:t>
            </a:r>
            <a:endParaRPr sz="4800">
              <a:solidFill>
                <a:srgbClr val="2F2F37"/>
              </a:solidFill>
              <a:highlight>
                <a:srgbClr val="FFFFFF"/>
              </a:highlight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rgbClr val="2F2F37"/>
              </a:buClr>
              <a:buSzPct val="100000"/>
              <a:buChar char="●"/>
            </a:pPr>
            <a:r>
              <a:rPr lang="en" sz="4800">
                <a:solidFill>
                  <a:srgbClr val="2F2F37"/>
                </a:solidFill>
                <a:highlight>
                  <a:schemeClr val="dk1"/>
                </a:highlight>
              </a:rPr>
              <a:t>до дашборду додала можливість, щоб при переключенні подій на графіку “воронка”  змінювалися графік із середньою кількістю днів, заголовок і тултіп.</a:t>
            </a:r>
            <a:endParaRPr sz="4800">
              <a:solidFill>
                <a:srgbClr val="2F2F37"/>
              </a:solidFill>
              <a:highlight>
                <a:srgbClr val="FFFFFF"/>
              </a:highlight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3">
              <a:solidFill>
                <a:srgbClr val="2F2F37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2F2F37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2F2F37"/>
              </a:solidFill>
            </a:endParaRPr>
          </a:p>
          <a:p>
            <a:pPr indent="-11430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-22860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-22860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-228600" lvl="0" marL="17145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-45720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7"/>
          <p:cNvPicPr preferRelativeResize="0"/>
          <p:nvPr/>
        </p:nvPicPr>
        <p:blipFill rotWithShape="1">
          <a:blip r:embed="rId4">
            <a:alphaModFix/>
          </a:blip>
          <a:srcRect b="7471" l="8884" r="12425" t="12278"/>
          <a:stretch/>
        </p:blipFill>
        <p:spPr>
          <a:xfrm>
            <a:off x="5311200" y="2463775"/>
            <a:ext cx="3439499" cy="1838924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8" name="Google Shape;158;p17"/>
          <p:cNvSpPr/>
          <p:nvPr/>
        </p:nvSpPr>
        <p:spPr>
          <a:xfrm>
            <a:off x="5311050" y="925450"/>
            <a:ext cx="3439500" cy="1538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Рекомендації:</a:t>
            </a:r>
            <a:r>
              <a:rPr b="1" lang="en" sz="1200">
                <a:solidFill>
                  <a:srgbClr val="1C458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1200">
                <a:solidFill>
                  <a:srgbClr val="2F2F37"/>
                </a:solidFill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такі “втрати” користувачів можуть свідчити про проблеми з  продуктом або його вартістю. Пропоную </a:t>
            </a:r>
            <a:r>
              <a:rPr lang="en" sz="1200">
                <a:solidFill>
                  <a:srgbClr val="2F2F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підключити верифікацію користувачів за допомогою Google аккаунта або соціальних мереж. Переглянути вартість продукту або розробити акційні пропозиції для підвищення конверсії користувачів.</a:t>
            </a:r>
            <a:endParaRPr sz="1200">
              <a:solidFill>
                <a:srgbClr val="2F2F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819150" y="392600"/>
            <a:ext cx="7505700" cy="4386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Висновки:</a:t>
            </a:r>
            <a:endParaRPr b="1"/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819150" y="953750"/>
            <a:ext cx="7505700" cy="35769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Montserrat"/>
              <a:buChar char="●"/>
            </a:pP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розрахувала 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метрики</a:t>
            </a: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безпосередньо в BI-системах, використовуючи вбудовані 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функції</a:t>
            </a: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та 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калькуляційні поля</a:t>
            </a: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для обчислення показників, таких як прибуток, продажі, середня тривалість доставки;</a:t>
            </a:r>
            <a:endParaRPr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Montserrat"/>
              <a:buChar char="●"/>
            </a:pP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створила часові ряди для аналізу динаміки змін 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продажів</a:t>
            </a: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та 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прибутку</a:t>
            </a: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по місяцях, що дозволило виявити 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тренд</a:t>
            </a: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у даних;</a:t>
            </a:r>
            <a:endParaRPr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Montserrat"/>
              <a:buChar char="●"/>
            </a:pP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навчилася 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сегментувати</a:t>
            </a: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дані в BI-системах, щоб проаналізувати їх за різними 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критеріями</a:t>
            </a: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: канали продажу, регіони, категорії;</a:t>
            </a:r>
            <a:endParaRPr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Montserrat"/>
              <a:buChar char="●"/>
            </a:pP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налаштувала 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фільтри</a:t>
            </a: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даних для інтерактивної взаємодії користувача з дашбордом та проведенні детального аналізу за різними показниками;</a:t>
            </a:r>
            <a:endParaRPr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Montserrat"/>
              <a:buChar char="●"/>
            </a:pP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дослідила та проаналізувала 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проходження</a:t>
            </a: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користувачів у різні етапи взаємодії з продуктом;</a:t>
            </a:r>
            <a:endParaRPr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Montserrat"/>
              <a:buChar char="●"/>
            </a:pP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побудувала інтерактивні 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візуалізації</a:t>
            </a: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для полегшення інтерпретації даних та прийняття рішень по оптимізації етапів для підвищення конверсії;</a:t>
            </a:r>
            <a:endParaRPr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Montserrat"/>
              <a:buChar char="●"/>
            </a:pP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зробила 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висновки</a:t>
            </a: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та 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рекомендації</a:t>
            </a: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для бізнесу на основі проведеного аналізу.</a:t>
            </a:r>
            <a:endParaRPr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11430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ДЯКУЮ ЗА УВАГУ!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